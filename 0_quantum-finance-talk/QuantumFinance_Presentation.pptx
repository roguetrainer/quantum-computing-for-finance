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QUANTUM COMPUTING FOR FINANCE: FROM THEORY TO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1: FOUNDATIONS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Clean, professional layout</a:t>
            </a:r>
          </a:p>
          <a:p>
            <a:pPr>
              <a:defRPr sz="1800"/>
            </a:pPr>
            <a:r>
              <a:t>Quantum circuit watermark (subtle, 20% opacity)</a:t>
            </a:r>
          </a:p>
          <a:p>
            <a:pPr>
              <a:defRPr sz="1800"/>
            </a:pPr>
            <a:r>
              <a:t>Blue/teal color scheme (quantum + finance)</a:t>
            </a:r>
          </a:p>
          <a:p>
            <a:pPr>
              <a:defRPr sz="1800"/>
            </a:pPr>
            <a:r>
              <a:t>Large, readable fonts</a:t>
            </a:r>
          </a:p>
          <a:p>
            <a:pPr>
              <a:defRPr sz="1800"/>
            </a:pPr>
            <a:r>
              <a:t>QR code bottom right (links to GitHub)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Quantum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Superposition: |ψ⟩ = α|0⟩ + β|1⟩</a:t>
            </a:r>
          </a:p>
          <a:p>
            <a:pPr>
              <a:defRPr sz="1800"/>
            </a:pPr>
            <a:r>
              <a:t>Entanglement: Correlations beyond classical</a:t>
            </a:r>
          </a:p>
          <a:p>
            <a:pPr>
              <a:defRPr sz="1800"/>
            </a:pPr>
            <a:r>
              <a:t>Interference: Amplitudes cancel/reinforce</a:t>
            </a:r>
          </a:p>
          <a:p>
            <a:pPr>
              <a:defRPr sz="1800"/>
            </a:pPr>
            <a:r>
              <a:t>Measurement: Collapses to definite state</a:t>
            </a:r>
          </a:p>
          <a:p>
            <a:pPr>
              <a:defRPr sz="1800"/>
            </a:pPr>
            <a:r>
              <a:t>Simple switch/light bulb diagram</a:t>
            </a:r>
          </a:p>
          <a:p>
            <a:pPr>
              <a:defRPr sz="1800"/>
            </a:pPr>
            <a:r>
              <a:t>Binary: ON (1) or OFF (0)</a:t>
            </a:r>
          </a:p>
          <a:p>
            <a:pPr>
              <a:defRPr sz="1800"/>
            </a:pPr>
            <a:r>
              <a:t>Deterministic</a:t>
            </a:r>
          </a:p>
          <a:p>
            <a:pPr>
              <a:defRPr sz="1800"/>
            </a:pPr>
            <a:r>
              <a:t>Bloch sphere (3D visualization)</a:t>
            </a:r>
          </a:p>
          <a:p>
            <a:pPr>
              <a:defRPr sz="1800"/>
            </a:pPr>
            <a:r>
              <a:t>|0⟩ at north pole, |1⟩ at south pole</a:t>
            </a:r>
          </a:p>
          <a:p>
            <a:pPr>
              <a:defRPr sz="1800"/>
            </a:pPr>
            <a:r>
              <a:t>Arrows showing superposition states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Myths vs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Two-column layout with clear visual separation</a:t>
            </a:r>
          </a:p>
          <a:p>
            <a:pPr>
              <a:defRPr sz="1800"/>
            </a:pPr>
            <a:r>
              <a:t>Red X icons for myths (bold, attention-grabbing)</a:t>
            </a:r>
          </a:p>
          <a:p>
            <a:pPr>
              <a:defRPr sz="1800"/>
            </a:pPr>
            <a:r>
              <a:t>Green checkmark for reality (authoritative)</a:t>
            </a:r>
          </a:p>
          <a:p>
            <a:pPr>
              <a:defRPr sz="1800"/>
            </a:pPr>
            <a:r>
              <a:t>Clean sans-serif font</a:t>
            </a:r>
          </a:p>
          <a:p>
            <a:pPr>
              <a:defRPr sz="1800"/>
            </a:pPr>
            <a:r>
              <a:t>Each pair aligned horizontally</a:t>
            </a:r>
          </a:p>
          <a:p>
            <a:pPr>
              <a:defRPr sz="1800"/>
            </a:pPr>
            <a:r>
              <a:t>Quantum volume (measure of quality, not just qubit count)</a:t>
            </a:r>
          </a:p>
          <a:p>
            <a:pPr>
              <a:defRPr sz="1800"/>
            </a:pPr>
            <a:r>
              <a:t>Error rates: current (~1% gate error) vs needed (&lt;0.01% for fault tolerance)</a:t>
            </a:r>
          </a:p>
          <a:p>
            <a:pPr>
              <a:defRPr sz="1800"/>
            </a:pPr>
            <a:r>
              <a:t>Coherence times and why they matter</a:t>
            </a:r>
          </a:p>
          <a:p>
            <a:pPr>
              <a:defRPr sz="1800"/>
            </a:pPr>
            <a:r>
              <a:t>Comparison to early classical computers (ENIAC → modern CPUs analogy)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Quantum Computing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Universal quantum computing</a:t>
            </a:r>
          </a:p>
          <a:p>
            <a:pPr>
              <a:defRPr sz="1800"/>
            </a:pPr>
            <a:r>
              <a:t>50-1000 qubits | 99.5-99.9% fidelity</a:t>
            </a:r>
          </a:p>
          <a:p>
            <a:pPr>
              <a:defRPr sz="1800"/>
            </a:pPr>
            <a:r>
              <a:t>Coherence: 50-100 μs</a:t>
            </a:r>
          </a:p>
          <a:p>
            <a:pPr>
              <a:defRPr sz="1800"/>
            </a:pPr>
            <a:r>
              <a:t>Optimization only (QUBO problems)</a:t>
            </a:r>
          </a:p>
          <a:p>
            <a:pPr>
              <a:defRPr sz="1800"/>
            </a:pPr>
            <a:r>
              <a:t>5000+ qubits | Limited connectivity</a:t>
            </a:r>
          </a:p>
          <a:p>
            <a:pPr>
              <a:defRPr sz="1800"/>
            </a:pPr>
            <a:r>
              <a:t>Continuous variable quantum</a:t>
            </a:r>
          </a:p>
          <a:p>
            <a:pPr>
              <a:defRPr sz="1800"/>
            </a:pPr>
            <a:r>
              <a:t>Room temperature | 216 qumodes</a:t>
            </a:r>
          </a:p>
          <a:p>
            <a:pPr>
              <a:defRPr sz="1800"/>
            </a:pPr>
            <a:r>
              <a:t>Long coherence | Scalable</a:t>
            </a:r>
          </a:p>
          <a:p>
            <a:pPr>
              <a:defRPr sz="1800"/>
            </a:pPr>
            <a:r>
              <a:t>256+ qubits | Rydberg interactions</a:t>
            </a:r>
          </a:p>
          <a:p>
            <a:pPr>
              <a:defRPr sz="1800"/>
            </a:pPr>
            <a:r>
              <a:t>High fidelity (99.9%+) | All-to-all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Supremacy → Advantage → Utility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High-dimensional Monte Carlo</a:t>
            </a:r>
          </a:p>
          <a:p>
            <a:pPr>
              <a:defRPr sz="1800"/>
            </a:pPr>
            <a:r>
              <a:t>NP-hard portfolio optimization</a:t>
            </a:r>
          </a:p>
          <a:p>
            <a:pPr>
              <a:defRPr sz="1800"/>
            </a:pPr>
            <a:r>
              <a:t>Complex correlation analysis</a:t>
            </a:r>
          </a:p>
          <a:p>
            <a:pPr>
              <a:defRPr sz="1800"/>
            </a:pPr>
            <a:r>
              <a:t>Three columns with arrows showing progression</a:t>
            </a:r>
          </a:p>
          <a:p>
            <a:pPr>
              <a:defRPr sz="1800"/>
            </a:pPr>
            <a:r>
              <a:t>Venn diagram for "sweet spot"</a:t>
            </a:r>
          </a:p>
          <a:p>
            <a:pPr>
              <a:defRPr sz="1800"/>
            </a:pPr>
            <a:r>
              <a:t>Checkmarks showing finance alignment</a:t>
            </a:r>
          </a:p>
          <a:p>
            <a:pPr>
              <a:defRPr sz="1800"/>
            </a:pPr>
            <a:r>
              <a:t>Timeline labels</a:t>
            </a:r>
          </a:p>
          <a:p>
            <a:pPr>
              <a:defRPr sz="1800"/>
            </a:pPr>
            <a:r>
              <a:t>Why random circuit sampling proved quantum supremacy</a:t>
            </a:r>
          </a:p>
          <a:p>
            <a:pPr>
              <a:defRPr sz="1800"/>
            </a:pPr>
            <a:r>
              <a:t>Criticisms of Google's supremacy claim (IBM's response)</a:t>
            </a:r>
          </a:p>
          <a:p>
            <a:pPr>
              <a:defRPr sz="1800"/>
            </a:pPr>
            <a:r>
              <a:t>Timeline to advantage: problem-specific predictions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2A: QUANTUM FINANCE APPLICATIONS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Global Quantum Finance 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JPMorgan + IBM (2020)</a:t>
            </a:r>
          </a:p>
          <a:p>
            <a:pPr>
              <a:defRPr sz="1800"/>
            </a:pPr>
            <a:r>
              <a:t>Goldman Sachs + QC Ware</a:t>
            </a:r>
          </a:p>
          <a:p>
            <a:pPr>
              <a:defRPr sz="1800"/>
            </a:pPr>
            <a:r>
              <a:t>Citigroup quantum team</a:t>
            </a:r>
          </a:p>
          <a:p>
            <a:pPr>
              <a:defRPr sz="1800"/>
            </a:pPr>
            <a:r>
              <a:t>Xanadu (photonic QC)</a:t>
            </a:r>
          </a:p>
          <a:p>
            <a:pPr>
              <a:defRPr sz="1800"/>
            </a:pPr>
            <a:r>
              <a:t>D-Wave (annealing)</a:t>
            </a:r>
          </a:p>
          <a:p>
            <a:pPr>
              <a:defRPr sz="1800"/>
            </a:pPr>
            <a:r>
              <a:t>RBC + Xanadu partnership</a:t>
            </a:r>
          </a:p>
          <a:p>
            <a:pPr>
              <a:defRPr sz="1800"/>
            </a:pPr>
            <a:r>
              <a:t>TD exploring quantum risk</a:t>
            </a:r>
          </a:p>
          <a:p>
            <a:pPr>
              <a:defRPr sz="1800"/>
            </a:pPr>
            <a:r>
              <a:t>HSBC + IBM</a:t>
            </a:r>
          </a:p>
          <a:p>
            <a:pPr>
              <a:defRPr sz="1800"/>
            </a:pPr>
            <a:r>
              <a:t>Barclays quantum research</a:t>
            </a:r>
          </a:p>
          <a:p>
            <a:pPr>
              <a:defRPr sz="1800"/>
            </a:pPr>
            <a:r>
              <a:t>Standard Chartered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Finance + Quantum = Perfect Match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Stress testing (Basel III/IV)</a:t>
            </a:r>
          </a:p>
          <a:p>
            <a:pPr>
              <a:defRPr sz="1800"/>
            </a:pPr>
            <a:r>
              <a:t>Real-time risk monitoring</a:t>
            </a:r>
          </a:p>
          <a:p>
            <a:pPr>
              <a:defRPr sz="1800"/>
            </a:pPr>
            <a:r>
              <a:t>Climate scenario modeling</a:t>
            </a:r>
          </a:p>
          <a:p>
            <a:pPr>
              <a:defRPr sz="1800"/>
            </a:pPr>
            <a:r>
              <a:t>Three numbered sections with icons</a:t>
            </a:r>
          </a:p>
          <a:p>
            <a:pPr>
              <a:defRPr sz="1800"/>
            </a:pPr>
            <a:r>
              <a:t>Each section in bordered box</a:t>
            </a:r>
          </a:p>
          <a:p>
            <a:pPr>
              <a:defRPr sz="1800"/>
            </a:pPr>
            <a:r>
              <a:t>Key points bulleted</a:t>
            </a:r>
          </a:p>
          <a:p>
            <a:pPr>
              <a:defRPr sz="1800"/>
            </a:pPr>
            <a:r>
              <a:t>Arrow showing implication</a:t>
            </a:r>
          </a:p>
          <a:p>
            <a:pPr>
              <a:defRPr sz="1800"/>
            </a:pPr>
            <a:r>
              <a:t>Additional "Plus" section at bottom</a:t>
            </a:r>
          </a:p>
          <a:p>
            <a:pPr>
              <a:defRPr sz="1800"/>
            </a:pPr>
            <a:r>
              <a:t>Specific examples of NP-hard problems in finance</a:t>
            </a:r>
          </a:p>
          <a:p>
            <a:pPr>
              <a:defRPr sz="1800"/>
            </a:pPr>
            <a:r>
              <a:t>Comparison of error tolerances: finance vs chemistry vs cryptography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1 - Stochastic Modeling &amp;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Derivative Pricing (options, CDOs)</a:t>
            </a:r>
          </a:p>
          <a:p>
            <a:pPr>
              <a:defRPr sz="1800"/>
            </a:pPr>
            <a:r>
              <a:t>Risk Metrics (VaR, CVaR, CVA, Greeks)</a:t>
            </a:r>
          </a:p>
          <a:p>
            <a:pPr>
              <a:defRPr sz="1800"/>
            </a:pPr>
            <a:r>
              <a:t>Portfolio Analysis</a:t>
            </a:r>
          </a:p>
          <a:p>
            <a:pPr>
              <a:defRPr sz="1800"/>
            </a:pPr>
            <a:r>
              <a:t>IBM: European options (2020)</a:t>
            </a:r>
          </a:p>
          <a:p>
            <a:pPr>
              <a:defRPr sz="1800"/>
            </a:pPr>
            <a:r>
              <a:t>IonQ: Interest rate models (2021)</a:t>
            </a:r>
          </a:p>
          <a:p>
            <a:pPr>
              <a:defRPr sz="1800"/>
            </a:pPr>
            <a:r>
              <a:t>Proven on simulators, validated on hardware</a:t>
            </a:r>
          </a:p>
          <a:p>
            <a:pPr>
              <a:defRPr sz="1800"/>
            </a:pPr>
            <a:r>
              <a:t>State preparation bottleneck O(2ⁿ)</a:t>
            </a:r>
          </a:p>
          <a:p>
            <a:pPr>
              <a:defRPr sz="1800"/>
            </a:pPr>
            <a:r>
              <a:t>qRAM requirement</a:t>
            </a:r>
          </a:p>
          <a:p>
            <a:pPr>
              <a:defRPr sz="1800"/>
            </a:pPr>
            <a:r>
              <a:t>Deep circuits (NISQ challenged)</a:t>
            </a:r>
          </a:p>
          <a:p>
            <a:pPr>
              <a:defRPr sz="1800"/>
            </a:pPr>
            <a:r>
              <a:t>X-axis: Number of samples (log scale: 100, 1K, 10K, 100K, 1M)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2B: QUANTUM-INSPIRED BRIDGE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Actually Deployed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50+ institutions experimenting with quantum</a:t>
            </a:r>
          </a:p>
          <a:p>
            <a:pPr>
              <a:defRPr sz="1800"/>
            </a:pPr>
            <a:r>
              <a:t>15-20 using quantum-inspired in PRODUCTION</a:t>
            </a:r>
          </a:p>
          <a:p>
            <a:pPr>
              <a:defRPr sz="1800"/>
            </a:pPr>
            <a:r>
              <a:t>Gap: Experiments vs deployments</a:t>
            </a:r>
          </a:p>
          <a:p>
            <a:pPr>
              <a:defRPr sz="1800"/>
            </a:pPr>
            <a:r>
              <a:t>Needs quantum hardware (qubits)</a:t>
            </a:r>
          </a:p>
          <a:p>
            <a:pPr>
              <a:defRPr sz="1800"/>
            </a:pPr>
            <a:r>
              <a:t>NISQ limitations, 5-10 years away</a:t>
            </a:r>
          </a:p>
          <a:p>
            <a:pPr>
              <a:defRPr sz="1800"/>
            </a:pPr>
            <a:r>
              <a:t>Runs on CLASSICAL hardware</a:t>
            </a:r>
          </a:p>
          <a:p>
            <a:pPr>
              <a:defRPr sz="1800"/>
            </a:pPr>
            <a:r>
              <a:t>Uses quantum mathematics</a:t>
            </a:r>
          </a:p>
          <a:p>
            <a:pPr>
              <a:defRPr sz="1800"/>
            </a:pPr>
            <a:r>
              <a:t>Available TODAY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Tensor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Origin: Quantum many-body physics</a:t>
            </a:r>
          </a:p>
          <a:p>
            <a:pPr>
              <a:defRPr sz="1800"/>
            </a:pPr>
            <a:r>
              <a:t>Matrix Product State: Correlation matrix ≈ T₁ · T₂ · ... · Tₙ</a:t>
            </a:r>
          </a:p>
          <a:p>
            <a:pPr>
              <a:defRPr sz="1800"/>
            </a:pPr>
            <a:r>
              <a:t>Compression: O(n²) → O(n·d²) where d = bond dimension</a:t>
            </a:r>
          </a:p>
          <a:p>
            <a:pPr>
              <a:defRPr sz="1800"/>
            </a:pPr>
            <a:r>
              <a:t>For n=1000, d=20: 1M params → 400K params (2.5x compression)</a:t>
            </a:r>
          </a:p>
          <a:p>
            <a:pPr>
              <a:defRPr sz="1800"/>
            </a:pPr>
            <a:r>
              <a:t>Financial correlations have structure (sectors, hierarchies, low effective rank)</a:t>
            </a:r>
          </a:p>
          <a:p>
            <a:pPr>
              <a:defRPr sz="1800"/>
            </a:pPr>
            <a:r>
              <a:t>MPS exploits this structure efficiently</a:t>
            </a:r>
          </a:p>
          <a:p>
            <a:pPr>
              <a:defRPr sz="1800"/>
            </a:pPr>
            <a:r>
              <a:t>n=100: 4.7x speedup (break-even)</a:t>
            </a:r>
          </a:p>
          <a:p>
            <a:pPr>
              <a:defRPr sz="1800"/>
            </a:pPr>
            <a:r>
              <a:t>n=500: 16x speedup</a:t>
            </a:r>
          </a:p>
          <a:p>
            <a:pPr>
              <a:defRPr sz="1800"/>
            </a:pPr>
            <a:r>
              <a:t>n=1000: 47x speedup</a:t>
            </a:r>
          </a:p>
          <a:p>
            <a:pPr>
              <a:defRPr sz="1800"/>
            </a:pPr>
            <a:r>
              <a:t>n=5000: 100x+ speedup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Annealers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100K+ variables, fully connected, digital CMOS, 10,000x faster than CPU for QUBO</a:t>
            </a:r>
          </a:p>
          <a:p>
            <a:pPr>
              <a:defRPr sz="1800"/>
            </a:pPr>
            <a:r>
              <a:t>10M+ variables, FPGA oscillators, 1,000,000x faster</a:t>
            </a:r>
          </a:p>
          <a:p>
            <a:pPr>
              <a:defRPr sz="1800"/>
            </a:pPr>
            <a:r>
              <a:t>100K+ variables, CMOS technology</a:t>
            </a:r>
          </a:p>
          <a:p>
            <a:pPr>
              <a:defRPr sz="1800"/>
            </a:pPr>
            <a:r>
              <a:t>Nomura + Fujitsu: Portfolio optimization (1,200 assets), production since 2019</a:t>
            </a:r>
          </a:p>
          <a:p>
            <a:pPr>
              <a:defRPr sz="1800"/>
            </a:pPr>
            <a:r>
              <a:t>Mizuho + Toshiba: FX arbitrage, daily operations</a:t>
            </a:r>
          </a:p>
          <a:p>
            <a:pPr>
              <a:defRPr sz="1800"/>
            </a:pPr>
            <a:r>
              <a:t>SoftBank: Vision Fund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Dequantization Debate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2018-2020: Ewin Tang and collaborators found classical algorithms matching quantum for some problems</a:t>
            </a:r>
          </a:p>
          <a:p>
            <a:pPr>
              <a:defRPr sz="1800"/>
            </a:pPr>
            <a:r>
              <a:t>Dequantized: Recommendation systems, low-rank PCA, certain linear regression</a:t>
            </a:r>
          </a:p>
          <a:p>
            <a:pPr>
              <a:defRPr sz="1800"/>
            </a:pPr>
            <a:r>
              <a:t>Quantum survives: High-rank unstructured problems, Grover's search, Shor's factoring, quantum simulation, amplitude estimation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Path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Deploy: Tensor networks, digital annealers</a:t>
            </a:r>
          </a:p>
          <a:p>
            <a:pPr>
              <a:defRPr sz="1800"/>
            </a:pPr>
            <a:r>
              <a:t>Investment: $100K-$2M, low risk</a:t>
            </a:r>
          </a:p>
          <a:p>
            <a:pPr>
              <a:defRPr sz="1800"/>
            </a:pPr>
            <a:r>
              <a:t>Status: Production-ready, proven ROI</a:t>
            </a:r>
          </a:p>
          <a:p>
            <a:pPr>
              <a:defRPr sz="1800"/>
            </a:pPr>
            <a:r>
              <a:t>Deploy: Quantum + classical co-processors</a:t>
            </a:r>
          </a:p>
          <a:p>
            <a:pPr>
              <a:defRPr sz="1800"/>
            </a:pPr>
            <a:r>
              <a:t>Investment: $5M-$20M, medium risk</a:t>
            </a:r>
          </a:p>
          <a:p>
            <a:pPr>
              <a:defRPr sz="1800"/>
            </a:pPr>
            <a:r>
              <a:t>Status: NISQ devices with error mitigation</a:t>
            </a:r>
          </a:p>
          <a:p>
            <a:pPr>
              <a:defRPr sz="1800"/>
            </a:pPr>
            <a:r>
              <a:t>Deploy: Full quantum algorithms</a:t>
            </a:r>
          </a:p>
          <a:p>
            <a:pPr>
              <a:defRPr sz="1800"/>
            </a:pPr>
            <a:r>
              <a:t>Investment: Very high, low risk (mature tech)</a:t>
            </a:r>
          </a:p>
          <a:p>
            <a:pPr>
              <a:defRPr sz="1800"/>
            </a:pPr>
            <a:r>
              <a:t>Status: Error-corrected logical qubits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3: AI MEETS QUANTUM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for Quantum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Google: RL reduces depth 30-50%</a:t>
            </a:r>
          </a:p>
          <a:p>
            <a:pPr>
              <a:defRPr sz="1800"/>
            </a:pPr>
            <a:r>
              <a:t>Neural architecture search for quantum circuits</a:t>
            </a:r>
          </a:p>
          <a:p>
            <a:pPr>
              <a:defRPr sz="1800"/>
            </a:pPr>
            <a:r>
              <a:t>Predict and subtract errors</a:t>
            </a:r>
          </a:p>
          <a:p>
            <a:pPr>
              <a:defRPr sz="1800"/>
            </a:pPr>
            <a:r>
              <a:t>IBM: ML error mitigation improves accuracy 2-10x</a:t>
            </a:r>
          </a:p>
          <a:p>
            <a:pPr>
              <a:defRPr sz="1800"/>
            </a:pPr>
            <a:r>
              <a:t>QAOA/VQC parameter tuning</a:t>
            </a:r>
          </a:p>
          <a:p>
            <a:pPr>
              <a:defRPr sz="1800"/>
            </a:pPr>
            <a:r>
              <a:t>10-100x fewer iterations to convergence</a:t>
            </a:r>
          </a:p>
          <a:p>
            <a:pPr>
              <a:defRPr sz="1800"/>
            </a:pPr>
            <a:r>
              <a:t>DeepMind AlphaTensor extends to quantum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Virtuous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Round 1 (2020-2023): AI reduces circuit depth → QAOA p=3 → hyperparameter tuning</a:t>
            </a:r>
          </a:p>
          <a:p>
            <a:pPr>
              <a:defRPr sz="1800"/>
            </a:pPr>
            <a:r>
              <a:t>Round 2 (2024-2027): Better circuits → QAOA p=5, VQE → quantum ML advantages</a:t>
            </a:r>
          </a:p>
          <a:p>
            <a:pPr>
              <a:defRPr sz="1800"/>
            </a:pPr>
            <a:r>
              <a:t>Round 3 (2028-2032): Logical qubits → quantum computers design quantum computers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4: BROADER IMPLICATIONS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Quantum Cryptography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Factors large numbers efficiently: O(N³) quantum vs O(exp(N^(1/3))) classical</a:t>
            </a:r>
          </a:p>
          <a:p>
            <a:pPr>
              <a:defRPr sz="1800"/>
            </a:pPr>
            <a:r>
              <a:t>Breaks RSA encryption</a:t>
            </a:r>
          </a:p>
          <a:p>
            <a:pPr>
              <a:defRPr sz="1800"/>
            </a:pPr>
            <a:r>
              <a:t>Timeline: 2030 for RSA-2048 (need ~4000 logical qubits)</a:t>
            </a:r>
          </a:p>
          <a:p>
            <a:pPr>
              <a:defRPr sz="1800"/>
            </a:pPr>
            <a:r>
              <a:t>Value at risk: $2+ trillion in encrypted assets</a:t>
            </a:r>
          </a:p>
          <a:p>
            <a:pPr>
              <a:defRPr sz="1800"/>
            </a:pPr>
            <a:r>
              <a:t>Mining safe (SHA-256 only gets √speedup from Grover's)</a:t>
            </a:r>
          </a:p>
          <a:p>
            <a:pPr>
              <a:defRPr sz="1800"/>
            </a:pPr>
            <a:r>
              <a:t>Digital signatures VULNERABLE (ECDSA broken by Shor's)</a:t>
            </a:r>
          </a:p>
          <a:p>
            <a:pPr>
              <a:defRPr sz="1800"/>
            </a:pPr>
            <a:r>
              <a:t>Attack: Broadcast transaction → public key revealed → quantum derives private key → steal funds</a:t>
            </a:r>
          </a:p>
          <a:p>
            <a:pPr>
              <a:defRPr sz="1800"/>
            </a:pPr>
            <a:r>
              <a:t>4M BTC at risk (~$100B)</a:t>
            </a:r>
          </a:p>
          <a:p>
            <a:pPr>
              <a:defRPr sz="1800"/>
            </a:pPr>
            <a:r>
              <a:t>CRYSTALS-Kyber (key encapsulation)</a:t>
            </a:r>
          </a:p>
          <a:p>
            <a:pPr>
              <a:defRPr sz="1800"/>
            </a:pPr>
            <a:r>
              <a:t>CRYSTALS-Dilithium, FALCON, SPHINCS+ (digital signatures)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Quantum Networking &amp; Sensing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Physics-guaranteed security (eavesdropping disturbs quantum state)</a:t>
            </a:r>
          </a:p>
          <a:p>
            <a:pPr>
              <a:defRPr sz="1800"/>
            </a:pPr>
            <a:r>
              <a:t>Deployments: China (2000+ km), Europe (EuroQCI, €1B), US (DOE networks)</a:t>
            </a:r>
          </a:p>
          <a:p>
            <a:pPr>
              <a:defRPr sz="1800"/>
            </a:pPr>
            <a:r>
              <a:t>Financial applications: Ultra-secure transfers, trading data, international settlement</a:t>
            </a:r>
          </a:p>
          <a:p>
            <a:pPr>
              <a:defRPr sz="1800"/>
            </a:pPr>
            <a:r>
              <a:t>Stage 1 (now): Trusted nodes, point-to-point QKD</a:t>
            </a:r>
          </a:p>
          <a:p>
            <a:pPr>
              <a:defRPr sz="1800"/>
            </a:pPr>
            <a:r>
              <a:t>Stage 2 (2025-2030): Entanglement distribution, quantum repeaters</a:t>
            </a:r>
          </a:p>
          <a:p>
            <a:pPr>
              <a:defRPr sz="1800"/>
            </a:pPr>
            <a:r>
              <a:t>Stage 3 (2030+): Full quantum network, distributed quantum computing</a:t>
            </a:r>
          </a:p>
          <a:p>
            <a:pPr>
              <a:defRPr sz="1800"/>
            </a:pPr>
            <a:r>
              <a:t>Quantum clocks: 10^-18 second precision (HFT without GPS)</a:t>
            </a:r>
          </a:p>
          <a:p>
            <a:pPr>
              <a:defRPr sz="1800"/>
            </a:pPr>
            <a:r>
              <a:t>Gravimetry: Detect underground resources, fraud detection</a:t>
            </a:r>
          </a:p>
          <a:p>
            <a:pPr>
              <a:defRPr sz="1800"/>
            </a:pPr>
            <a:r>
              <a:t>Magnetic detection: Authentication, security monitoring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"Quantum" Probability &amp;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Actual quantum hardware (qubits)</a:t>
            </a:r>
          </a:p>
          <a:p>
            <a:pPr>
              <a:defRPr sz="1800"/>
            </a:pPr>
            <a:r>
              <a:t>Runs on quantum computers</a:t>
            </a:r>
          </a:p>
          <a:p>
            <a:pPr>
              <a:defRPr sz="1800"/>
            </a:pPr>
            <a:r>
              <a:t>Quantum mechanics, Hilbert spaces</a:t>
            </a:r>
          </a:p>
          <a:p>
            <a:pPr>
              <a:defRPr sz="1800"/>
            </a:pPr>
            <a:r>
              <a:t>Mathematical framework borrowing quantum formalism</a:t>
            </a:r>
          </a:p>
          <a:p>
            <a:pPr>
              <a:defRPr sz="1800"/>
            </a:pPr>
            <a:r>
              <a:t>Runs on CLASSICAL computers (spreadsheets!)</a:t>
            </a:r>
          </a:p>
          <a:p>
            <a:pPr>
              <a:defRPr sz="1800"/>
            </a:pPr>
            <a:r>
              <a:t>Quantum probability theory, no qubits</a:t>
            </a:r>
          </a:p>
          <a:p>
            <a:pPr>
              <a:defRPr sz="1800"/>
            </a:pPr>
            <a:r>
              <a:t>Applications: Decision theory, behavioral economics, option pricing with quantum probability</a:t>
            </a:r>
          </a:p>
          <a:p>
            <a:pPr>
              <a:defRPr sz="1800"/>
            </a:pPr>
            <a:r>
              <a:t>Buzzword ("quantum leap in performance")</a:t>
            </a:r>
          </a:p>
          <a:p>
            <a:pPr>
              <a:defRPr sz="1800"/>
            </a:pPr>
            <a:r>
              <a:t>Vague, no technical detail</a:t>
            </a:r>
          </a:p>
          <a:p>
            <a:pPr>
              <a:defRPr sz="1800"/>
            </a:pPr>
            <a:r>
              <a:t>Red flag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Cross-Pollination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Fair division in cooperative games</a:t>
            </a:r>
          </a:p>
          <a:p>
            <a:pPr>
              <a:defRPr sz="1800"/>
            </a:pPr>
            <a:r>
              <a:t>Apply to quantum cloud platforms (IBM Quantum, AWS Braket)</a:t>
            </a:r>
          </a:p>
          <a:p>
            <a:pPr>
              <a:defRPr sz="1800"/>
            </a:pPr>
            <a:r>
              <a:t>Allocate qubit time fairly based on marginal contribution</a:t>
            </a:r>
          </a:p>
          <a:p>
            <a:pPr>
              <a:defRPr sz="1800"/>
            </a:pPr>
            <a:r>
              <a:t>Quantum internet routing with limited resources</a:t>
            </a:r>
          </a:p>
          <a:p>
            <a:pPr>
              <a:defRPr sz="1800"/>
            </a:pPr>
            <a:r>
              <a:t>Mechanism design for entanglement distribution</a:t>
            </a:r>
          </a:p>
          <a:p>
            <a:pPr>
              <a:defRPr sz="1800"/>
            </a:pPr>
            <a:r>
              <a:t>Nash equilibrium for quantum routing protocols</a:t>
            </a:r>
          </a:p>
          <a:p>
            <a:pPr>
              <a:defRPr sz="1800"/>
            </a:pPr>
            <a:r>
              <a:t>Drug discovery (molecular simulations with tensor networks)</a:t>
            </a:r>
          </a:p>
          <a:p>
            <a:pPr>
              <a:defRPr sz="1800"/>
            </a:pPr>
            <a:r>
              <a:t>Climate modeling (high-dimensional systems)</a:t>
            </a:r>
          </a:p>
          <a:p>
            <a:pPr>
              <a:defRPr sz="1800"/>
            </a:pPr>
            <a:r>
              <a:t>Supply chain optimization, traffic flow, energy grids</a:t>
            </a:r>
          </a:p>
          <a:p>
            <a:pPr>
              <a:defRPr sz="1800"/>
            </a:pPr>
            <a:r>
              <a:t>Common theme: High-dimensional, structured problems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5: CONCLUSIONS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&amp; Strategic Imperatives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**2024-2025 (NOW):** NISQ devices, quantum-inspired production, foundation era</a:t>
            </a:r>
          </a:p>
          <a:p>
            <a:pPr>
              <a:defRPr sz="1800"/>
            </a:pPr>
            <a:r>
              <a:t>**2025-2028:** Early NISQ advantages, 1-10 logical qubits, pilot deployments</a:t>
            </a:r>
          </a:p>
          <a:p>
            <a:pPr>
              <a:defRPr sz="1800"/>
            </a:pPr>
            <a:r>
              <a:t>**2028-2032:** Advanced NISQ, 10-100 logical qubits, production advantages</a:t>
            </a:r>
          </a:p>
          <a:p>
            <a:pPr>
              <a:defRPr sz="1800"/>
            </a:pPr>
            <a:r>
              <a:t>**2032-2035:** Fault-tolerant, 100-1000 logical qubits, transformative impact</a:t>
            </a:r>
          </a:p>
          <a:p>
            <a:pPr>
              <a:defRPr sz="1800"/>
            </a:pPr>
            <a:r>
              <a:t>☐ Deploy quantum-inspired NOW (tensor networks)</a:t>
            </a:r>
          </a:p>
          <a:p>
            <a:pPr>
              <a:defRPr sz="1800"/>
            </a:pPr>
            <a:r>
              <a:t>☐ Build quantum expertise team (PhD-level)</a:t>
            </a:r>
          </a:p>
          <a:p>
            <a:pPr>
              <a:defRPr sz="1800"/>
            </a:pPr>
            <a:r>
              <a:t>☐ Establish vendor partnerships (IBM, AWS, specialists)</a:t>
            </a:r>
          </a:p>
          <a:p>
            <a:pPr>
              <a:defRPr sz="1800"/>
            </a:pPr>
            <a:r>
              <a:t>☐ Identify high-value use cases</a:t>
            </a:r>
          </a:p>
          <a:p>
            <a:pPr>
              <a:defRPr sz="1800"/>
            </a:pPr>
            <a:r>
              <a:t>☐ Begin post-quantum crypto migration</a:t>
            </a:r>
          </a:p>
          <a:p>
            <a:pPr>
              <a:defRPr sz="1800"/>
            </a:pPr>
            <a:r>
              <a:t>☐ Allocate R&amp;D budget (1-3% of IT)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Big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Exponential speedup for specific problems</a:t>
            </a:r>
          </a:p>
          <a:p>
            <a:pPr>
              <a:defRPr sz="1800"/>
            </a:pPr>
            <a:r>
              <a:t>5-10 years to fault-tolerant</a:t>
            </a:r>
          </a:p>
          <a:p>
            <a:pPr>
              <a:defRPr sz="1800"/>
            </a:pPr>
            <a:r>
              <a:t>Transforms computation fundamentally</a:t>
            </a:r>
          </a:p>
          <a:p>
            <a:pPr>
              <a:defRPr sz="1800"/>
            </a:pPr>
            <a:r>
              <a:t>Learns from data, automates discovery</a:t>
            </a:r>
          </a:p>
          <a:p>
            <a:pPr>
              <a:defRPr sz="1800"/>
            </a:pPr>
            <a:r>
              <a:t>Advancing rapidly NOW</a:t>
            </a:r>
          </a:p>
          <a:p>
            <a:pPr>
              <a:defRPr sz="1800"/>
            </a:pPr>
            <a:r>
              <a:t>Enhances everything including quantum</a:t>
            </a:r>
          </a:p>
          <a:p>
            <a:pPr>
              <a:defRPr sz="1800"/>
            </a:pPr>
            <a:r>
              <a:t>High-value problems, capital available</a:t>
            </a:r>
          </a:p>
          <a:p>
            <a:pPr>
              <a:defRPr sz="1800"/>
            </a:pPr>
            <a:r>
              <a:t>Continuous pressure for better/faster</a:t>
            </a:r>
          </a:p>
          <a:p>
            <a:pPr>
              <a:defRPr sz="1800"/>
            </a:pPr>
            <a:r>
              <a:t>First industry to benefit from quantum</a:t>
            </a:r>
          </a:p>
          <a:p>
            <a:pPr>
              <a:defRPr sz="1800"/>
            </a:pPr>
            <a:r>
              <a:t>**Near-term (NOW-2028):** Deploy quantum-inspired, gain 10-100x speedups, build expertise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Approach: Live Code Walkthrough (20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